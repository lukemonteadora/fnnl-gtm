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-84" y="-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Zapmail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500/day</c:v>
                </c:pt>
                <c:pt idx="1">
                  <c:v>1,000/day</c:v>
                </c:pt>
                <c:pt idx="2">
                  <c:v>1,500/day</c:v>
                </c:pt>
                <c:pt idx="3">
                  <c:v>2,000/day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130</c:v>
                </c:pt>
                <c:pt idx="2">
                  <c:v>191</c:v>
                </c:pt>
                <c:pt idx="3">
                  <c:v>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7F-4B2F-B98A-ECF435C91D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InboxKit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500/day</c:v>
                </c:pt>
                <c:pt idx="1">
                  <c:v>1,000/day</c:v>
                </c:pt>
                <c:pt idx="2">
                  <c:v>1,500/day</c:v>
                </c:pt>
                <c:pt idx="3">
                  <c:v>2,000/day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111</c:v>
                </c:pt>
                <c:pt idx="2">
                  <c:v>171</c:v>
                </c:pt>
                <c:pt idx="3">
                  <c:v>235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7F-4B2F-B98A-ECF435C91D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Primeforge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500/day</c:v>
                </c:pt>
                <c:pt idx="1">
                  <c:v>1,000/day</c:v>
                </c:pt>
                <c:pt idx="2">
                  <c:v>1,500/day</c:v>
                </c:pt>
                <c:pt idx="3">
                  <c:v>2,000/day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</c:v>
                </c:pt>
                <c:pt idx="1">
                  <c:v>173</c:v>
                </c:pt>
                <c:pt idx="2">
                  <c:v>254</c:v>
                </c:pt>
                <c:pt idx="3">
                  <c:v>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47F-4B2F-B98A-ECF435C91D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151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03320"/>
            <a:ext cx="9144000" cy="144018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005840"/>
            <a:ext cx="91440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633472"/>
            <a:ext cx="65836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Infrastructure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Tracker &amp; Provider Comparison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VP of Operations  |  May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Zapmail  →  Evaluating: InboxKit + Primeforge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key takeaways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651760" cy="406908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04672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969264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969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InboxKit saves 11–16% vs Zapmail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at every volume in steady state ($65–$235/mo). The only provider with a published inbox placement guarantee: 95%.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804672"/>
            <a:ext cx="2651760" cy="40690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804672"/>
            <a:ext cx="26517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969264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969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499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Primeforge: better inbox rate + best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1945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experience shows consistently better primary inbox landing. Only provider with a dedicated Slack/Teams channel — infra issues resolved same-day, not in a ticket queue.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804672"/>
            <a:ext cx="2651760" cy="40690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804672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45352" y="969264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5352" y="969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49961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Zapmail M365: confirmed SMTP blocker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194560"/>
            <a:ext cx="23774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Zapmail M365 mailboxes do not generate SMTP/app passwords — OAuth only. Most sequencers require SMTP. Confirmed from their own help docs.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sending volume requires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3337560" cy="2423160"/>
          </a:xfrm>
          <a:prstGeom prst="rect">
            <a:avLst/>
          </a:prstGeom>
          <a:solidFill>
            <a:srgbClr val="E0F7FB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77240"/>
            <a:ext cx="64008" cy="2423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229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sends / inbox / day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— reduces GW suspension risk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inboxes per domain
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(Zapmail recommends 1–3)
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days/month  |  Domains ~$1.08–1.17/mo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777240"/>
          <a:ext cx="4983480" cy="2423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Sends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Sends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2,000/day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20040" y="3337560"/>
            <a:ext cx="850392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401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Formula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374904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Plan  +  Domain Cost  +  Warmup (if applicable)  +  Monitoring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41605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volume tier uses the most cost-efficient plan for that inbox count.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— InboxKit cheapest at every tier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77240"/>
          <a:ext cx="4160520" cy="4114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$65/mo  ▼11%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$111/mo  ▼15%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$171/mo  ▼11%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$254/mo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2,000/day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$256/mo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$235/mo  ▼8%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$341/mo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$/1k emails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~$3.94  ▼11%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/>
        </p:nvGraphicFramePr>
        <p:xfrm>
          <a:off x="4709160" y="777240"/>
          <a:ext cx="41148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709160" y="4617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cost ($) — steady state, excludes InboxKit warmup add-on (months 1–2)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Deep-Dive: 500 &amp; 1,000 Emails / 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+ domains + warmup + monitoring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/ day  —  17 inboxes · 9 domains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3215963"/>
              </p:ext>
            </p:extLst>
          </p:nvPr>
        </p:nvGraphicFramePr>
        <p:xfrm>
          <a:off x="274320" y="1078992"/>
          <a:ext cx="4114800" cy="36510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No built-in warm-up tool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+$51 (mo 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tool (Warm Forge)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InfraGuard*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Warmforge†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(steady)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$73/mo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$65/mo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$/1k 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$4.33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/ day  —  34 inboxes · 17 domains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208009"/>
              </p:ext>
            </p:extLst>
          </p:nvPr>
        </p:nvGraphicFramePr>
        <p:xfrm>
          <a:off x="4754880" y="1078992"/>
          <a:ext cx="4114800" cy="36510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$112.00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No built-in warm-up tool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+$102 (mo 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tool (Warm Forge)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InfraGuard*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Warmforge†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(steady)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$111/mo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$/1k 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$3.70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InfraGuard: 1st month free, then paid add-on     † Warmforge: separate product / login in Forge ecosystem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Deep-Dive: 1,500 &amp; 2,000 Emails / 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+ domains + warmup + monitoring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32004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/ day  —  50 inboxes · 25 domains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734819"/>
              </p:ext>
            </p:extLst>
          </p:nvPr>
        </p:nvGraphicFramePr>
        <p:xfrm>
          <a:off x="274320" y="1078992"/>
          <a:ext cx="4114800" cy="36510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No built-in warm-up tool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+$150 (mo 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External tool (Warm Forge)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InfraGuard*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Warmforge†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(steady)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$171/mo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$254/mo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$/1k 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$3.80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754880" y="749808"/>
            <a:ext cx="4114800" cy="320040"/>
          </a:xfrm>
          <a:prstGeom prst="rect">
            <a:avLst/>
          </a:prstGeom>
          <a:solidFill>
            <a:srgbClr val="111D33"/>
          </a:solidFill>
          <a:ln w="12700">
            <a:solidFill>
              <a:srgbClr val="111D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7498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day  —  67 inboxes · 34 domains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926640"/>
              </p:ext>
            </p:extLst>
          </p:nvPr>
        </p:nvGraphicFramePr>
        <p:xfrm>
          <a:off x="4754880" y="1078992"/>
          <a:ext cx="4114800" cy="36510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$301.50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No built-in warm-up tool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+$201 (mo 1–2)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External tool (Warm Forge)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InfraGuard*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Warmforge†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(steady)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$256/mo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$235/mo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$341/mo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$/1k emails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$3.92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InfraGuard: 1st month free, then paid add-on     † Warmforge: separate product / login in Forge ecosystem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headline pricing doesn't show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49808"/>
          <a:ext cx="8595360" cy="43510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 (current)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M365 SMTP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 passwords — OAuth only (blocker for most sequencers)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SMTP + app passwords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SMTP + app passwords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Self-serve — no dedicated channel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priority ticket (all plans)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Slack/Teams — same-day resolution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— manage yourself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InfraGuard (1st mo free, then paid)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Warmforge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Warmup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+$3/inbox/mo for ~2 months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access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plan only ($299/mo)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Pre-aged domains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adds sending reputation trust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SOC2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50+ via OAuth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15–24 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SMTP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Scorecards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dimensions — same criteria across all three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43200" cy="47548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14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1894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47218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●●●○○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149961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mid-range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49298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773936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Placement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1984248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201168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data — unscored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26136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286000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Deliverability Tooling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249631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●●○○○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" y="252374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monitoring &amp; analytics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761488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98064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" y="300837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●●○○○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" y="303580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SMTP/app passwords — OAuth only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310128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Automation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" y="352044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" y="354787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API, 50+ integrations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822192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03250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●●○○○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7472" y="405993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Chat/Email 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</a:t>
            </a:r>
            <a:r>
              <a:rPr lang="en-US" sz="8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prt</a:t>
            </a: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29768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4334256"/>
            <a:ext cx="2633472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Reliability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544568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" y="457200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500k+ mailboxes, 35k+ businesses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0" y="749808"/>
            <a:ext cx="2743200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InboxKit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200400" y="1014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Recommendation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122529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126187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273552" y="14630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at every volume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00400" y="1737360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177393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73552" y="197510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95% inbox placement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00400" y="224942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73552" y="22860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73552" y="248716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InfraGuard: blacklist, DNS watchdog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2761488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73552" y="279806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273552" y="299923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SMTP + app passwords, all plans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00400" y="327355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73552" y="3310128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73552" y="351129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all plans, bulk CSV, webhooks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0" y="3785616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73552" y="382219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273552" y="402336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priority on all plans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00400" y="429768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73552" y="433425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●●●○○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273552" y="453542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4.3/5 · 45 reviews · 80% trust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126480" y="749808"/>
            <a:ext cx="27432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76809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Primeforge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126480" y="1014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26480" y="122529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199632" y="126187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●●○○○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199632" y="146304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 per inbox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26480" y="1737360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199632" y="177393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199632" y="197510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experience: best inbox rate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26480" y="224942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99632" y="22860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●●●○○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6199632" y="2487168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matching; Warmforge for monitoring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126480" y="2761488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199632" y="279806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●●●●○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199632" y="299923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SMTP + app passwords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126480" y="3273552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199632" y="3310128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●●●○○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6199632" y="3511296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on all plans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126480" y="3785616"/>
            <a:ext cx="2743200" cy="512064"/>
          </a:xfrm>
          <a:prstGeom prst="rect">
            <a:avLst/>
          </a:prstGeom>
          <a:solidFill>
            <a:srgbClr val="EE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99632" y="3822192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●●●●●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199632" y="4023360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Slack/Teams — same-day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6126480" y="4297680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99632" y="4334256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●●●○○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6199632" y="453542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infra; pre-aged domains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Secondary · Retain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41605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941832"/>
            <a:ext cx="252374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4183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PRIMARY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13258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InboxKit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7282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Recommendation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039112"/>
            <a:ext cx="252374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at every volume in steady state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95% inbox placement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deliverability tooling (InfraGuard)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M365 SMTP + app passwords, all plans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webhooks on all plans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priority support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11–16% vs Zapmail ($10–21/mo)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84048" y="45720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add-on: +$3/inbox/mo for first ~2 months.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777240"/>
            <a:ext cx="2743200" cy="41605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777240"/>
            <a:ext cx="27432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941832"/>
            <a:ext cx="252374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94183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SECONDARY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3258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Primeforge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7282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039112"/>
            <a:ext cx="252374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experience: better primary inbox rate vs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Zapmail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matching — sends from same ESP as prospect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Slack/Teams (infra breaks — this matters)</a:t>
            </a:r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Profiles (stand out in inboxes)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Pre-aged domains add reputation trust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SOC2 compliant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alongside InboxKit at 500/day to validate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5720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cost. Justify with inbox rate data from parallel run.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9904" y="777240"/>
            <a:ext cx="2743200" cy="4160520"/>
          </a:xfrm>
          <a:prstGeom prst="rect">
            <a:avLst/>
          </a:prstGeom>
          <a:solidFill>
            <a:srgbClr val="EEF4F9"/>
          </a:solidFill>
          <a:ln w="1905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9904" y="777240"/>
            <a:ext cx="2743200" cy="914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941832"/>
            <a:ext cx="2523744" cy="29260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94183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RETAIN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99632" y="1325880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6A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Zapmail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99632" y="17282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 Only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99632" y="2039112"/>
            <a:ext cx="2523744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API for domain automation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for scripted domain purchase → inbox → export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OAuth integrations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slots as InboxKit migration completes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expand for M365 SMTP-dependent sends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99632" y="457200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out gradually — do not expand.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phases over 3 months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2743200" cy="713232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7498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7863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15214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64008" cy="35661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1848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InboxKit: 10 mailboxes, 5 domains (~$36/mo)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Primeforge: 10 mailboxes, 5 domains (~$48/mo)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Zapmail running (existing)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3: inbox placement, reply rate, bounce rate, blacklist hits, support responsiveness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82112" y="749808"/>
            <a:ext cx="2743200" cy="7132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182112" y="7498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822192" y="7863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Decide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2192" y="115214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Month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82112" y="14630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463040"/>
            <a:ext cx="64008" cy="3566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61848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placement rate (target: &gt;90%)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 rate (target: &lt;3%)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incidents (target: 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quality — first-hand experience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primary provider based on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749808"/>
            <a:ext cx="27432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9904" y="749808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29984" y="7863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9984" y="115214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14630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1463040"/>
            <a:ext cx="64008" cy="3566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1618488"/>
            <a:ext cx="2487168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full inbox pool to winning provider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 Zapmail slots as subscriptions expire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Zapmail API for domain automation scripts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Primeforge inbox delta confirmed: run Primeforge for high-value sequences, InboxKit for volume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41605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InboxKit warmup delay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weeks before full volume (by design)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migration 3 weeks before volume needed; maintain Zapmail during ramp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Zapmail M365 SMTP blocker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 passwords — confirmed from help docs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Google Workspace on Zapmail, or migrate M365 to InboxKit / Primeforge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 cost premium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33–44% above Zapmail at every volume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Justify with inbox placement data from parallel test. Only scale if rate delta is measurable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1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Primeforge ecosystem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Warmforge, Infraforge etc. are separate products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Primeforge for mailbox provisioning only. Keep Warmforge 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1511</Words>
  <Application>Microsoft Office PowerPoint</Application>
  <PresentationFormat>On-screen Show (16:9)</PresentationFormat>
  <Paragraphs>384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Infrastructure: Cost Tracker &amp; Provider Comparison</dc:title>
  <dc:subject>Prepared for VP of Operations</dc:subject>
  <dc:creator>PptxGenJS</dc:creator>
  <cp:lastModifiedBy>Renar Luke Monteadora</cp:lastModifiedBy>
  <cp:revision>2</cp:revision>
  <dcterms:created xsi:type="dcterms:W3CDTF">2026-05-20T08:32:50Z</dcterms:created>
  <dcterms:modified xsi:type="dcterms:W3CDTF">2026-05-20T09:14:58Z</dcterms:modified>
</cp:coreProperties>
</file>